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0.xml" /><Relationship Id="rId4" Type="http://schemas.openxmlformats.org/officeDocument/2006/relationships/slide" Target="slide15.xml" /><Relationship Id="rId5" Type="http://schemas.openxmlformats.org/officeDocument/2006/relationships/slide" Target="slide21.xml" /><Relationship Id="rId6" Type="http://schemas.openxmlformats.org/officeDocument/2006/relationships/slide" Target="slide2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dvance.phuse.global/pages/viewpage.action?pageId=327874" TargetMode="External" /><Relationship Id="rId3" Type="http://schemas.openxmlformats.org/officeDocument/2006/relationships/hyperlink" Target="https://www.psiweb.org/sigs-special-interest-groups/aims" TargetMode="External" /><Relationship Id="rId4" Type="http://schemas.openxmlformats.org/officeDocument/2006/relationships/hyperlink" Target="https://rconsortium.github.io/submissions-wg/" TargetMode="External" /><Relationship Id="rId5" Type="http://schemas.openxmlformats.org/officeDocument/2006/relationships/hyperlink" Target="https://rconsortium.github.io/rtrs-wg/" TargetMode="External" /><Relationship Id="rId6" Type="http://schemas.openxmlformats.org/officeDocument/2006/relationships/hyperlink" Target="https://github.com/RConsortium/R-Certification-WG" TargetMode="External" /><Relationship Id="rId7" Type="http://schemas.openxmlformats.org/officeDocument/2006/relationships/hyperlink" Target="https://github.com/RConsortium/r-repositories-wg"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mmrm_R_package.html" TargetMode="External" /><Relationship Id="rId3" Type="http://schemas.openxmlformats.org/officeDocument/2006/relationships/hyperlink" Target="https://rconsortium.github.io/asa-biop-swe-wg/bayesian_mmrm_R_package.html" TargetMode="External" /><Relationship Id="rId4" Type="http://schemas.openxmlformats.org/officeDocument/2006/relationships/hyperlink" Target="https://github.com/hta-pharma/"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mmrm/" TargetMode="External" /><Relationship Id="rId3" Type="http://schemas.openxmlformats.org/officeDocument/2006/relationships/hyperlink" Target="https://cran.r-project.org/package=mmrm" TargetMode="External" /><Relationship Id="rId4" Type="http://schemas.openxmlformats.org/officeDocument/2006/relationships/hyperlink" Target="https://openpharma.github.io/brms.mmrm/" TargetMode="External" /><Relationship Id="rId5" Type="http://schemas.openxmlformats.org/officeDocument/2006/relationships/hyperlink" Target="https://cran.r-project.org/package=brms.mmrm"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workshop-r-swe-mtl/" TargetMode="External" /><Relationship Id="rId3" Type="http://schemas.openxmlformats.org/officeDocument/2006/relationships/hyperlink" Target="https://www.youtube.com/playlist?list=PL848NFA2PWgCR35n02yn1ZV7JqSu3NMxS"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presentations.html" TargetMode="External" /><Relationship Id="rId3" Type="http://schemas.openxmlformats.org/officeDocument/2006/relationships/hyperlink" Target="https://rconsortium.github.io/asa-biop-swe-wg/blog/biop_report/" TargetMode="External" /><Relationship Id="rId4" Type="http://schemas.openxmlformats.org/officeDocument/2006/relationships/hyperlink" Target="https://rconsortium.github.io/asa-biop-swe-wg/blog.html"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First year of the Software Engineering working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Daniel Sabanés Bové (Roche) and Ya Wang (Gilead) on behalf of the working group</a:t>
            </a:r>
          </a:p>
        </p:txBody>
      </p:sp>
      <p:sp>
        <p:nvSpPr>
          <p:cNvPr id="4" name="Date Placeholder 3"/>
          <p:cNvSpPr>
            <a:spLocks noGrp="1"/>
          </p:cNvSpPr>
          <p:nvPr>
            <p:ph idx="10" sz="half" type="dt"/>
          </p:nvPr>
        </p:nvSpPr>
        <p:spPr/>
        <p:txBody>
          <a:bodyPr/>
          <a:lstStyle/>
          <a:p>
            <a:pPr lvl="0" indent="0" marL="0">
              <a:buNone/>
            </a:pPr>
            <a:r>
              <a:rPr/>
              <a:t>2023-09-06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WG</a:t>
            </a:r>
          </a:p>
          <a:p>
            <a:pPr lvl="0"/>
            <a:r>
              <a:rPr>
                <a:hlinkClick r:id="rId3" action="ppaction://hlinksldjump"/>
              </a:rPr>
              <a:t>Achievements in the first year</a:t>
            </a:r>
          </a:p>
          <a:p>
            <a:pPr lvl="0"/>
            <a:r>
              <a:rPr>
                <a:hlinkClick r:id="rId4" action="ppaction://hlinksldjump"/>
              </a:rPr>
              <a:t>Ingredients for successful and sustainable collaboration</a:t>
            </a:r>
          </a:p>
          <a:p>
            <a:pPr lvl="0"/>
            <a:r>
              <a:rPr>
                <a:hlinkClick r:id="rId5" action="ppaction://hlinksldjump"/>
              </a:rPr>
              <a:t>Long term vision</a:t>
            </a:r>
          </a:p>
          <a:p>
            <a:pPr lvl="0"/>
            <a:r>
              <a:rPr>
                <a:hlinkClick r:id="rId6" action="ppaction://hlinksldjump"/>
              </a:rPr>
              <a:t>Next steps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Software Engineering Working Group</a:t>
            </a:r>
          </a:p>
        </p:txBody>
      </p:sp>
      <p:sp>
        <p:nvSpPr>
          <p:cNvPr id="3" name="Content Placeholder 2"/>
          <p:cNvSpPr>
            <a:spLocks noGrp="1"/>
          </p:cNvSpPr>
          <p:nvPr>
            <p:ph idx="1" sz="half"/>
          </p:nvPr>
        </p:nvSpPr>
        <p:spPr/>
        <p:txBody>
          <a:bodyPr/>
          <a:lstStyle/>
          <a:p>
            <a:pPr lvl="0" indent="0" marL="0">
              <a:buNone/>
            </a:pPr>
            <a:r>
              <a:rPr/>
              <a:t>Founded last year:</a:t>
            </a:r>
          </a:p>
          <a:p>
            <a:pPr lvl="0"/>
            <a:r>
              <a:rPr/>
              <a:t>When: 19 August 2022 - just celebrated our 1 year birthday!</a:t>
            </a:r>
          </a:p>
          <a:p>
            <a:pPr lvl="0"/>
            <a:r>
              <a:rPr/>
              <a:t>Where: American Statistical Association (ASA) Biopharmaceutical Section (BIOP)</a:t>
            </a:r>
          </a:p>
          <a:p>
            <a:pPr lvl="0"/>
            <a:r>
              <a:rPr/>
              <a:t>Who: 11 statisticians from 7 pharma companies developing statistical software</a:t>
            </a:r>
          </a:p>
        </p:txBody>
      </p:sp>
      <p:pic>
        <p:nvPicPr>
          <p:cNvPr descr="https://github.com/openstatsware/website/raw/main/sticker/openstatsware-hex-1200.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 new WG?</a:t>
            </a:r>
          </a:p>
        </p:txBody>
      </p:sp>
      <p:sp>
        <p:nvSpPr>
          <p:cNvPr id="3" name="Content Placeholder 2"/>
          <p:cNvSpPr>
            <a:spLocks noGrp="1"/>
          </p:cNvSpPr>
          <p:nvPr>
            <p:ph idx="1"/>
          </p:nvPr>
        </p:nvSpPr>
        <p:spPr/>
        <p:txBody>
          <a:bodyPr/>
          <a:lstStyle/>
          <a:p>
            <a:pPr lvl="0"/>
            <a:r>
              <a:rPr/>
              <a:t>Started with specific R-package project (more below)</a:t>
            </a:r>
          </a:p>
          <a:p>
            <a:pPr lvl="0"/>
            <a:r>
              <a:rPr/>
              <a:t>Makes sense to stay together as a group also for other package projects</a:t>
            </a:r>
          </a:p>
          <a:p>
            <a:pPr lvl="0"/>
            <a:r>
              <a:rPr/>
              <a:t>New focus on good engineering practices and collaborative work</a:t>
            </a:r>
          </a:p>
          <a:p>
            <a:pPr lvl="0"/>
            <a:r>
              <a:rPr/>
              <a:t>Importance of reliable software for statistical analysis can not be underestimated</a:t>
            </a:r>
          </a:p>
          <a:p>
            <a:pPr lvl="0"/>
            <a:r>
              <a:rPr/>
              <a:t>Be rooted in the biostatistics community (rather than statistical programming)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there are other WGs?</a:t>
            </a:r>
          </a:p>
        </p:txBody>
      </p:sp>
      <p:sp>
        <p:nvSpPr>
          <p:cNvPr id="3" name="Content Placeholder 2"/>
          <p:cNvSpPr>
            <a:spLocks noGrp="1"/>
          </p:cNvSpPr>
          <p:nvPr>
            <p:ph idx="1"/>
          </p:nvPr>
        </p:nvSpPr>
        <p:spPr/>
        <p:txBody>
          <a:bodyPr/>
          <a:lstStyle/>
          <a:p>
            <a:pPr lvl="0"/>
            <a:r>
              <a:rPr/>
              <a:t>Comparing Analysis Method Implementations in Software (CAMIS) of PhUSE </a:t>
            </a:r>
            <a:r>
              <a:rPr>
                <a:hlinkClick r:id="rId2"/>
              </a:rPr>
              <a:t>🌎</a:t>
            </a:r>
          </a:p>
          <a:p>
            <a:pPr lvl="0"/>
            <a:r>
              <a:rPr/>
              <a:t>Application and Implementation of Methodologies in Statistics (AIMS) Special Interest Group (SIG) of PSI </a:t>
            </a:r>
            <a:r>
              <a:rPr>
                <a:hlinkClick r:id="rId3"/>
              </a:rPr>
              <a:t>🌎</a:t>
            </a:r>
          </a:p>
          <a:p>
            <a:pPr lvl="0"/>
            <a:r>
              <a:rPr/>
              <a:t>R Submission Working Group of R Consortium </a:t>
            </a:r>
            <a:r>
              <a:rPr>
                <a:hlinkClick r:id="rId4"/>
              </a:rPr>
              <a:t>🌎</a:t>
            </a:r>
          </a:p>
          <a:p>
            <a:pPr lvl="0"/>
            <a:r>
              <a:rPr/>
              <a:t>R Tables for Regulatory Submissions Working Group of R Consortium </a:t>
            </a:r>
            <a:r>
              <a:rPr>
                <a:hlinkClick r:id="rId5"/>
              </a:rPr>
              <a:t>🌎</a:t>
            </a:r>
          </a:p>
          <a:p>
            <a:pPr lvl="0"/>
            <a:r>
              <a:rPr/>
              <a:t>R Certification working group of R Consortium </a:t>
            </a:r>
            <a:r>
              <a:rPr>
                <a:hlinkClick r:id="rId6"/>
              </a:rPr>
              <a:t>🌎</a:t>
            </a:r>
          </a:p>
          <a:p>
            <a:pPr lvl="0"/>
            <a:r>
              <a:rPr/>
              <a:t>R Repositories WG of R Consortium </a:t>
            </a:r>
            <a:r>
              <a:rPr>
                <a:hlinkClick r:id="rId7"/>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WG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1"/>
            <a:r>
              <a:rPr/>
              <a:t>… to fill in gaps in the open-source statistical software landscape</a:t>
            </a:r>
          </a:p>
          <a:p>
            <a:pPr lvl="1"/>
            <a:r>
              <a:rPr/>
              <a:t>… focusing on what is needed for biopharmaceutical applications</a:t>
            </a:r>
          </a:p>
          <a:p>
            <a:pPr lvl="0"/>
            <a:r>
              <a:rPr/>
              <a:t>Secondary:</a:t>
            </a:r>
          </a:p>
          <a:p>
            <a:pPr lvl="1"/>
            <a:r>
              <a:rPr/>
              <a:t>Develop and disseminate best practices for engineering high-quality open-source statistical software</a:t>
            </a:r>
          </a:p>
          <a:p>
            <a:pPr lvl="0"/>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Members and meetings</a:t>
            </a:r>
          </a:p>
        </p:txBody>
      </p:sp>
      <p:sp>
        <p:nvSpPr>
          <p:cNvPr id="3" name="Content Placeholder 2"/>
          <p:cNvSpPr>
            <a:spLocks noGrp="1"/>
          </p:cNvSpPr>
          <p:nvPr>
            <p:ph idx="1"/>
          </p:nvPr>
        </p:nvSpPr>
        <p:spPr/>
        <p:txBody>
          <a:bodyPr/>
          <a:lstStyle/>
          <a:p>
            <a:pPr lvl="0"/>
            <a:r>
              <a:rPr/>
              <a:t>Currently 43 members</a:t>
            </a:r>
          </a:p>
          <a:p>
            <a:pPr lvl="1"/>
            <a:r>
              <a:rPr/>
              <a:t>new members are welcome! (incl. academia/regulators/etc.)</a:t>
            </a:r>
          </a:p>
          <a:p>
            <a:pPr lvl="0"/>
            <a:r>
              <a:rPr/>
              <a:t>Currently 36 organizations</a:t>
            </a:r>
          </a:p>
          <a:p>
            <a:pPr lvl="1"/>
            <a:r>
              <a:rPr/>
              <a:t>Alpha Stats Ltd., argenx, AstraZeneca, BASF, Bayer, Berry Consultants, BMS, Boehringer Ingelheim, CIMS Global, Daiichi Sankyo, Eli Lilly, Finc Research, Genentech, Gilead Sciences, GSK, ICON, Independent, Jumping Rivers, MaxisIT, Merck, Merck KGaA, Mirum, MSD, Novartis, Novo Nordisk, Pfizer, Priothera, RCONIS, Regeneron, Roche, RPACT, Sanofi, Stealth Bio, The George Institute for Global Health, UCB, Winicker Norimed</a:t>
            </a:r>
          </a:p>
          <a:p>
            <a:pPr lvl="0"/>
            <a:r>
              <a:rPr/>
              <a:t>Meet every 2 weeks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a:t>
            </a:r>
          </a:p>
        </p:txBody>
      </p:sp>
      <p:sp>
        <p:nvSpPr>
          <p:cNvPr id="3" name="Content Placeholder 2"/>
          <p:cNvSpPr>
            <a:spLocks noGrp="1"/>
          </p:cNvSpPr>
          <p:nvPr>
            <p:ph idx="1"/>
          </p:nvPr>
        </p:nvSpPr>
        <p:spPr/>
        <p:txBody>
          <a:bodyPr/>
          <a:lstStyle/>
          <a:p>
            <a:pPr lvl="0"/>
            <a:r>
              <a:rPr/>
              <a:t>Mixed Models for Repeated Measures (MMRM) </a:t>
            </a:r>
            <a:r>
              <a:rPr>
                <a:hlinkClick r:id="rId2"/>
              </a:rPr>
              <a:t>🌎</a:t>
            </a:r>
          </a:p>
          <a:p>
            <a:pPr lvl="1"/>
            <a:r>
              <a:rPr/>
              <a:t>Develop </a:t>
            </a:r>
            <a:r>
              <a:rPr>
                <a:latin typeface="Courier"/>
              </a:rPr>
              <a:t>mmrm</a:t>
            </a:r>
            <a:r>
              <a:rPr/>
              <a:t> (see below) to use frequentist inference in MMRM</a:t>
            </a:r>
          </a:p>
          <a:p>
            <a:pPr lvl="0"/>
            <a:r>
              <a:rPr/>
              <a:t>Bayesian MMRM </a:t>
            </a:r>
            <a:r>
              <a:rPr>
                <a:hlinkClick r:id="rId3"/>
              </a:rPr>
              <a:t>🌎</a:t>
            </a:r>
          </a:p>
          <a:p>
            <a:pPr lvl="1"/>
            <a:r>
              <a:rPr/>
              <a:t>Develop </a:t>
            </a:r>
            <a:r>
              <a:rPr>
                <a:latin typeface="Courier"/>
              </a:rPr>
              <a:t>brms.mmrm</a:t>
            </a:r>
            <a:r>
              <a:rPr/>
              <a:t> (see below)</a:t>
            </a:r>
          </a:p>
          <a:p>
            <a:pPr lvl="0"/>
            <a:r>
              <a:rPr/>
              <a:t>Health Technology Assessment </a:t>
            </a:r>
            <a:r>
              <a:rPr>
                <a:hlinkClick r:id="rId4"/>
              </a:rPr>
              <a:t>🌎</a:t>
            </a:r>
          </a:p>
          <a:p>
            <a:pPr lvl="1"/>
            <a:r>
              <a:rPr/>
              <a:t>Develop open-source R tools to support HTA dossier submission across various countries, particularly the topics with unmet needs in R implementation and/or related to EUnetHTA</a:t>
            </a:r>
          </a:p>
          <a:p>
            <a:pPr lvl="0"/>
            <a:r>
              <a:rPr/>
              <a:t>Note: Also “just” contributing to workstreams is great!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Achievements in the first year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R packages released to CRAN</a:t>
            </a:r>
          </a:p>
        </p:txBody>
      </p:sp>
      <p:sp>
        <p:nvSpPr>
          <p:cNvPr id="3" name="Content Placeholder 2"/>
          <p:cNvSpPr>
            <a:spLocks noGrp="1"/>
          </p:cNvSpPr>
          <p:nvPr>
            <p:ph idx="1"/>
          </p:nvPr>
        </p:nvSpPr>
        <p:spPr/>
        <p:txBody>
          <a:bodyPr/>
          <a:lstStyle/>
          <a:p>
            <a:pPr lvl="0"/>
            <a:r>
              <a:rPr>
                <a:latin typeface="Courier"/>
              </a:rPr>
              <a:t>mmrm</a:t>
            </a:r>
          </a:p>
          <a:p>
            <a:pPr lvl="1"/>
            <a:r>
              <a:rPr/>
              <a:t>R package for frequentist inference in MMRM, based on </a:t>
            </a:r>
            <a:r>
              <a:rPr>
                <a:latin typeface="Courier"/>
              </a:rPr>
              <a:t>TMB</a:t>
            </a:r>
            <a:r>
              <a:rPr/>
              <a:t> (which provides automatic differentiation in </a:t>
            </a:r>
            <a:r>
              <a:rPr>
                <a:latin typeface="Courier"/>
              </a:rPr>
              <a:t>C++</a:t>
            </a:r>
            <a:r>
              <a:rPr/>
              <a:t> and R frontend)</a:t>
            </a:r>
          </a:p>
          <a:p>
            <a:pPr lvl="1"/>
            <a:r>
              <a:rPr/>
              <a:t>See documentation </a:t>
            </a:r>
            <a:r>
              <a:rPr>
                <a:hlinkClick r:id="rId2"/>
              </a:rPr>
              <a:t>🌎</a:t>
            </a:r>
          </a:p>
          <a:p>
            <a:pPr lvl="1"/>
            <a:r>
              <a:rPr/>
              <a:t>Easiest to install from CRAN </a:t>
            </a:r>
            <a:r>
              <a:rPr>
                <a:hlinkClick r:id="rId3"/>
              </a:rPr>
              <a:t>🌎</a:t>
            </a:r>
          </a:p>
          <a:p>
            <a:pPr lvl="0"/>
            <a:r>
              <a:rPr>
                <a:latin typeface="Courier"/>
              </a:rPr>
              <a:t>brms.mmrm</a:t>
            </a:r>
          </a:p>
          <a:p>
            <a:pPr lvl="1"/>
            <a:r>
              <a:rPr/>
              <a:t>R package for Bayesian inference in MMRM, based on </a:t>
            </a:r>
            <a:r>
              <a:rPr>
                <a:latin typeface="Courier"/>
              </a:rPr>
              <a:t>brms</a:t>
            </a:r>
            <a:r>
              <a:rPr/>
              <a:t> (as Stan frontend for HMC sampling)</a:t>
            </a:r>
          </a:p>
          <a:p>
            <a:pPr lvl="1"/>
            <a:r>
              <a:rPr/>
              <a:t>See documentation </a:t>
            </a:r>
            <a:r>
              <a:rPr>
                <a:hlinkClick r:id="rId4"/>
              </a:rPr>
              <a:t>🌎</a:t>
            </a:r>
          </a:p>
          <a:p>
            <a:pPr lvl="1"/>
            <a:r>
              <a:rPr/>
              <a:t>Easiest to install from CRAN </a:t>
            </a:r>
            <a:r>
              <a:rPr>
                <a:hlinkClick r:id="rId5"/>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was the MMRM topic important?</a:t>
            </a:r>
          </a:p>
        </p:txBody>
      </p:sp>
      <p:sp>
        <p:nvSpPr>
          <p:cNvPr id="3" name="Content Placeholder 2"/>
          <p:cNvSpPr>
            <a:spLocks noGrp="1"/>
          </p:cNvSpPr>
          <p:nvPr>
            <p:ph idx="1"/>
          </p:nvPr>
        </p:nvSpPr>
        <p:spPr/>
        <p:txBody>
          <a:bodyPr/>
          <a:lstStyle/>
          <a:p>
            <a:pPr lvl="0"/>
            <a:r>
              <a:rPr/>
              <a:t>MMRM is a popular analysis method for longitudinal continuous outcomes in randomized clinical trials</a:t>
            </a:r>
          </a:p>
          <a:p>
            <a:pPr lvl="0"/>
            <a:r>
              <a:rPr/>
              <a:t>No tailored R package with sufficient capabilities/reliability</a:t>
            </a:r>
          </a:p>
          <a:p>
            <a:pPr lvl="0"/>
            <a:r>
              <a:rPr/>
              <a:t>Also used as backbone for more recent methods such as multiple imputation</a:t>
            </a:r>
          </a:p>
          <a:p>
            <a:pPr lvl="0"/>
            <a:r>
              <a:rPr/>
              <a:t>Have a look at Gonzalo’s presentation to learn more about </a:t>
            </a:r>
            <a:r>
              <a:rPr>
                <a:latin typeface="Courier"/>
              </a:rPr>
              <a:t>mmrm</a:t>
            </a:r>
          </a:p>
          <a:p>
            <a:pPr lvl="1"/>
            <a:r>
              <a:rPr/>
              <a:t>10.40 am in the following session</a:t>
            </a:r>
          </a:p>
          <a:p>
            <a:pPr lvl="1"/>
            <a:r>
              <a:rPr/>
              <a:t>compares </a:t>
            </a:r>
            <a:r>
              <a:rPr>
                <a:latin typeface="Courier"/>
              </a:rPr>
              <a:t>mmrm</a:t>
            </a:r>
            <a:r>
              <a:rPr/>
              <a:t> with previous R packages and SAS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Includes version control, git workflow, code review, unit/integration testing, continuous integration/delivery (ci/cd), reproducibility, traceability (news), documentation, package design, maintainability, publication, etc.</a:t>
            </a:r>
          </a:p>
          <a:p>
            <a:pPr lvl="0"/>
            <a:r>
              <a:rPr/>
              <a:t>Workshop “Good Software Engineering Practice for R Packages” on world tour</a:t>
            </a:r>
          </a:p>
          <a:p>
            <a:pPr lvl="1"/>
            <a:r>
              <a:rPr/>
              <a:t>Basel, Shanghai, San José, Rockville MD, Montreal </a:t>
            </a:r>
            <a:r>
              <a:rPr>
                <a:hlinkClick r:id="rId2"/>
              </a:rPr>
              <a:t>🌎</a:t>
            </a:r>
          </a:p>
          <a:p>
            <a:pPr lvl="0"/>
            <a:r>
              <a:rPr/>
              <a:t>Start of video series “Statistical Software Engineering 101” </a:t>
            </a:r>
            <a:r>
              <a:rPr>
                <a:hlinkClick r:id="rId3"/>
              </a:rPr>
              <a:t>🌎</a:t>
            </a:r>
          </a:p>
          <a:p>
            <a:pPr lvl="1"/>
            <a:r>
              <a:rPr/>
              <a:t>currently 2 videos, hopefully we can still produce more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Conference contributions and Publications</a:t>
            </a:r>
          </a:p>
        </p:txBody>
      </p:sp>
      <p:sp>
        <p:nvSpPr>
          <p:cNvPr id="3" name="Content Placeholder 2"/>
          <p:cNvSpPr>
            <a:spLocks noGrp="1"/>
          </p:cNvSpPr>
          <p:nvPr>
            <p:ph idx="1"/>
          </p:nvPr>
        </p:nvSpPr>
        <p:spPr/>
        <p:txBody>
          <a:bodyPr/>
          <a:lstStyle/>
          <a:p>
            <a:pPr lvl="0"/>
            <a:r>
              <a:rPr/>
              <a:t>Dedicated sessions with discussions at ISCB, CEN (now), ASA/FDA workshop</a:t>
            </a:r>
          </a:p>
          <a:p>
            <a:pPr lvl="0"/>
            <a:r>
              <a:rPr/>
              <a:t>Presentations at PSI, JSM, Pharma RUG, BBS, etc. </a:t>
            </a:r>
            <a:r>
              <a:rPr>
                <a:hlinkClick r:id="rId2"/>
              </a:rPr>
              <a:t>🌎</a:t>
            </a:r>
          </a:p>
          <a:p>
            <a:pPr lvl="0"/>
            <a:r>
              <a:rPr/>
              <a:t>BIOP Report </a:t>
            </a:r>
            <a:r>
              <a:rPr>
                <a:hlinkClick r:id="rId3"/>
              </a:rPr>
              <a:t>🌎</a:t>
            </a:r>
          </a:p>
          <a:p>
            <a:pPr lvl="0"/>
            <a:r>
              <a:rPr/>
              <a:t>Blog </a:t>
            </a:r>
            <a:r>
              <a:rPr>
                <a:hlinkClick r:id="rId4"/>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Ingredients for successful and sustainable collaboration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 factors</a:t>
            </a:r>
          </a:p>
        </p:txBody>
      </p:sp>
      <p:sp>
        <p:nvSpPr>
          <p:cNvPr id="3" name="Content Placeholder 2"/>
          <p:cNvSpPr>
            <a:spLocks noGrp="1"/>
          </p:cNvSpPr>
          <p:nvPr>
            <p:ph idx="1"/>
          </p:nvPr>
        </p:nvSpPr>
        <p:spPr/>
        <p:txBody>
          <a:bodyPr/>
          <a:lstStyle/>
          <a:p>
            <a:pPr lvl="0"/>
            <a:r>
              <a:rPr/>
              <a:t>Mutual interest</a:t>
            </a:r>
          </a:p>
          <a:p>
            <a:pPr lvl="0"/>
            <a:r>
              <a:rPr/>
              <a:t>Mutual trust</a:t>
            </a:r>
          </a:p>
          <a:p>
            <a:pPr lvl="0"/>
            <a:r>
              <a:rPr/>
              <a:t>Prerequisite is getting to know each other</a:t>
            </a:r>
          </a:p>
          <a:p>
            <a:pPr lvl="1"/>
            <a:r>
              <a:rPr/>
              <a:t>Although mostly just online, biweekly calls help a lot with this</a:t>
            </a:r>
          </a:p>
          <a:p>
            <a:pPr lvl="0"/>
            <a:r>
              <a:rPr/>
              <a:t>Reciprocity mindset</a:t>
            </a:r>
          </a:p>
          <a:p>
            <a:pPr lvl="1"/>
            <a:r>
              <a:rPr/>
              <a:t>“Reciprocity means that in response to friendly actions, people are frequently much nicer and much more cooperative than predicted by the self-interest model”</a:t>
            </a:r>
          </a:p>
          <a:p>
            <a:pPr lvl="1"/>
            <a:r>
              <a:rPr/>
              <a:t>Personal experience: If you first give away something, more will come back to you.</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vision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Statisticians have software engineering skills</a:t>
            </a:r>
          </a:p>
        </p:txBody>
      </p:sp>
      <p:sp>
        <p:nvSpPr>
          <p:cNvPr id="3" name="Content Placeholder 2"/>
          <p:cNvSpPr>
            <a:spLocks noGrp="1"/>
          </p:cNvSpPr>
          <p:nvPr>
            <p:ph idx="1"/>
          </p:nvPr>
        </p:nvSpPr>
        <p:spPr/>
        <p:txBody>
          <a:bodyPr/>
          <a:lstStyle/>
          <a:p>
            <a:pPr lvl="0"/>
            <a:r>
              <a:rPr/>
              <a:t>These skills are taught at university</a:t>
            </a:r>
          </a:p>
          <a:p>
            <a:pPr lvl="0"/>
            <a:r>
              <a:rPr/>
              <a:t>Statisticians can use basic practices in their daily work …</a:t>
            </a:r>
          </a:p>
          <a:p>
            <a:pPr lvl="0"/>
            <a:r>
              <a:rPr/>
              <a:t>… to ensure reproducibility of statistical analyses and research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Innovation does not stop with publication</a:t>
            </a:r>
          </a:p>
        </p:txBody>
      </p:sp>
      <p:sp>
        <p:nvSpPr>
          <p:cNvPr id="3" name="Content Placeholder 2"/>
          <p:cNvSpPr>
            <a:spLocks noGrp="1"/>
          </p:cNvSpPr>
          <p:nvPr>
            <p:ph idx="1"/>
          </p:nvPr>
        </p:nvSpPr>
        <p:spPr/>
        <p:txBody>
          <a:bodyPr/>
          <a:lstStyle/>
          <a:p>
            <a:pPr lvl="0"/>
            <a:r>
              <a:rPr/>
              <a:t>Methods research does not end when the first methods paper is published</a:t>
            </a:r>
          </a:p>
          <a:p>
            <a:pPr lvl="0"/>
            <a:r>
              <a:rPr/>
              <a:t>Initial prototype code as paper supplement is not sufficient</a:t>
            </a:r>
          </a:p>
          <a:p>
            <a:pPr lvl="0"/>
            <a:r>
              <a:rPr/>
              <a:t>Continue to developing open source and reliably tested software packages …</a:t>
            </a:r>
          </a:p>
          <a:p>
            <a:pPr lvl="0"/>
            <a:r>
              <a:rPr/>
              <a:t>… to enable users to easily use the new methodology in their own applications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Industry develops common code base</a:t>
            </a:r>
          </a:p>
        </p:txBody>
      </p:sp>
      <p:sp>
        <p:nvSpPr>
          <p:cNvPr id="3" name="Content Placeholder 2"/>
          <p:cNvSpPr>
            <a:spLocks noGrp="1"/>
          </p:cNvSpPr>
          <p:nvPr>
            <p:ph idx="1"/>
          </p:nvPr>
        </p:nvSpPr>
        <p:spPr/>
        <p:txBody>
          <a:bodyPr/>
          <a:lstStyle/>
          <a:p>
            <a:pPr lvl="0"/>
            <a:r>
              <a:rPr/>
              <a:t>Increasingly companies work in the open source as much as possible</a:t>
            </a:r>
          </a:p>
          <a:p>
            <a:pPr lvl="0"/>
            <a:r>
              <a:rPr/>
              <a:t>Rather than repeating similar developments internally …</a:t>
            </a:r>
          </a:p>
          <a:p>
            <a:pPr lvl="0"/>
            <a:r>
              <a:rPr/>
              <a:t>… to become more cost-effective and transparent towards society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 Packages</a:t>
            </a:r>
          </a:p>
        </p:txBody>
      </p:sp>
      <p:sp>
        <p:nvSpPr>
          <p:cNvPr id="3" name="Content Placeholder 2"/>
          <p:cNvSpPr>
            <a:spLocks noGrp="1"/>
          </p:cNvSpPr>
          <p:nvPr>
            <p:ph idx="1"/>
          </p:nvPr>
        </p:nvSpPr>
        <p:spPr/>
        <p:txBody>
          <a:bodyPr/>
          <a:lstStyle/>
          <a:p>
            <a:pPr lvl="0"/>
            <a:r>
              <a:rPr/>
              <a:t>New workstream on covariate adjustment is starting up</a:t>
            </a:r>
          </a:p>
          <a:p>
            <a:pPr lvl="0"/>
            <a:r>
              <a:rPr/>
              <a:t>Think more strategically about identifying gaps in the statistical software landscape</a:t>
            </a:r>
          </a:p>
          <a:p>
            <a:pPr lvl="0"/>
            <a:r>
              <a:rPr/>
              <a:t>Help maintaining the CRAN Task View on Clinical Trials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Branding and Collaboration</a:t>
            </a:r>
          </a:p>
        </p:txBody>
      </p:sp>
      <p:sp>
        <p:nvSpPr>
          <p:cNvPr id="3" name="Content Placeholder 2"/>
          <p:cNvSpPr>
            <a:spLocks noGrp="1"/>
          </p:cNvSpPr>
          <p:nvPr>
            <p:ph idx="1"/>
          </p:nvPr>
        </p:nvSpPr>
        <p:spPr/>
        <p:txBody>
          <a:bodyPr/>
          <a:lstStyle/>
          <a:p>
            <a:pPr lvl="0"/>
            <a:r>
              <a:rPr/>
              <a:t>Find a new short and memorable name</a:t>
            </a:r>
          </a:p>
          <a:p>
            <a:pPr lvl="0"/>
            <a:r>
              <a:rPr/>
              <a:t>Proposed to associate also with EFSPI to emphasize global nature of the group</a:t>
            </a:r>
          </a:p>
          <a:p>
            <a:pPr lvl="0"/>
            <a:r>
              <a:rPr/>
              <a:t>Ensure a strong connection to the new pan-pharma methodology group</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Communication and Outreach</a:t>
            </a:r>
          </a:p>
        </p:txBody>
      </p:sp>
      <p:sp>
        <p:nvSpPr>
          <p:cNvPr id="3" name="Content Placeholder 2"/>
          <p:cNvSpPr>
            <a:spLocks noGrp="1"/>
          </p:cNvSpPr>
          <p:nvPr>
            <p:ph idx="1"/>
          </p:nvPr>
        </p:nvSpPr>
        <p:spPr/>
        <p:txBody>
          <a:bodyPr/>
          <a:lstStyle/>
          <a:p>
            <a:pPr lvl="0"/>
            <a:r>
              <a:rPr/>
              <a:t>Add more content to our video series</a:t>
            </a:r>
          </a:p>
          <a:p>
            <a:pPr lvl="0"/>
            <a:r>
              <a:rPr/>
              <a:t>Start a chat channel to start informal discussions within larger community</a:t>
            </a:r>
          </a:p>
          <a:p>
            <a:pPr lvl="0"/>
            <a:r>
              <a:rPr/>
              <a:t>Organize hackathons working together on workstream packages e.g.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First year of the Software Engineering working group</dc:title>
  <dc:creator>Daniel Sabanés Bové (Roche) and Ya Wang (Gilead) on behalf of the working group</dc:creator>
  <cp:keywords/>
  <dcterms:created xsi:type="dcterms:W3CDTF">2026-06-20T09:44:33Z</dcterms:created>
  <dcterms:modified xsi:type="dcterms:W3CDTF">2026-06-20T09:44:33Z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2023-09-06</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toc-title">
    <vt:lpwstr>Outline</vt:lpwstr>
  </property>
</Properties>
</file>