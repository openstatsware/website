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2.xml" /><Relationship Id="rId4" Type="http://schemas.openxmlformats.org/officeDocument/2006/relationships/slide" Target="slide17.xml" /><Relationship Id="rId5" Type="http://schemas.openxmlformats.org/officeDocument/2006/relationships/slide" Target="slide23.xml" /><Relationship Id="rId6" Type="http://schemas.openxmlformats.org/officeDocument/2006/relationships/slide" Target="slide2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pharmar.or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harmar.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Regulatory-Industry Statistics Workshop 2023</a:t>
            </a:r>
            <a:br/>
            <a:b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2023-09-29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a:p>
            <a:pPr lvl="0"/>
            <a:r>
              <a:rPr/>
              <a:t>New name: </a:t>
            </a:r>
            <a:r>
              <a:rPr>
                <a:latin typeface="Courier"/>
              </a:rPr>
              <a:t>openstatsware</a:t>
            </a:r>
          </a:p>
        </p:txBody>
      </p:sp>
      <p:pic>
        <p:nvPicPr>
          <p:cNvPr descr="../sticker/sticker-new-1200.png" id="0" name="Picture 1"/>
          <p:cNvPicPr>
            <a:picLocks noGrp="1" noChangeAspect="1"/>
          </p:cNvPicPr>
          <p:nvPr/>
        </p:nvPicPr>
        <p:blipFill>
          <a:blip r:embed="rId2"/>
          <a:stretch>
            <a:fillRect/>
          </a:stretch>
        </p:blipFill>
        <p:spPr bwMode="auto">
          <a:xfrm>
            <a:off x="5207000" y="1193800"/>
            <a:ext cx="29337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Validation Hub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a:t>
            </a:r>
          </a:p>
        </p:txBody>
      </p:sp>
      <p:sp>
        <p:nvSpPr>
          <p:cNvPr id="3" name="Content Placeholder 2"/>
          <p:cNvSpPr>
            <a:spLocks noGrp="1"/>
          </p:cNvSpPr>
          <p:nvPr>
            <p:ph idx="1"/>
          </p:nvPr>
        </p:nvSpPr>
        <p:spPr/>
        <p:txBody>
          <a:bodyPr/>
          <a:lstStyle/>
          <a:p>
            <a:pPr lvl="0"/>
            <a:r>
              <a:rPr/>
              <a:t>Validation is on every one’s mind when talking about open source in Pharma:</a:t>
            </a:r>
          </a:p>
          <a:p>
            <a:pPr lvl="1"/>
            <a:r>
              <a:rPr/>
              <a:t>“Establishing documented evidence which provides a high degree of assurance (accuracy) that a specific process consistently (reproducibility) produces a product meeting its predetermined specifications (traceability) and quality attributes.”</a:t>
            </a:r>
          </a:p>
          <a:p>
            <a:pPr lvl="0"/>
            <a:r>
              <a:rPr/>
              <a:t>The </a:t>
            </a:r>
            <a:r>
              <a:rPr>
                <a:hlinkClick r:id="rId2"/>
              </a:rPr>
              <a:t>R Validation Hub</a:t>
            </a:r>
            <a:r>
              <a:rPr/>
              <a:t> is a collaboration to support the adoption of R within a biopharmaceutical regulatory setting</a:t>
            </a:r>
          </a:p>
          <a:p>
            <a:pPr lvl="1"/>
            <a:r>
              <a:rPr/>
              <a:t>Develops tools that supports risk assessment of R packages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 (cont’d)</a:t>
            </a:r>
          </a:p>
        </p:txBody>
      </p:sp>
      <p:sp>
        <p:nvSpPr>
          <p:cNvPr id="3" name="Content Placeholder 2"/>
          <p:cNvSpPr>
            <a:spLocks noGrp="1"/>
          </p:cNvSpPr>
          <p:nvPr>
            <p:ph idx="1"/>
          </p:nvPr>
        </p:nvSpPr>
        <p:spPr/>
        <p:txBody>
          <a:bodyPr/>
          <a:lstStyle/>
          <a:p>
            <a:pPr lvl="0"/>
            <a:r>
              <a:rPr/>
              <a:t>Base R and recommended packages are developed by the R Foundation, developed using best practices.</a:t>
            </a:r>
          </a:p>
          <a:p>
            <a:pPr lvl="0"/>
            <a:r>
              <a:rPr/>
              <a:t>Our working group is spreading the word about best development practices such that contributed packages can achieve the same level of quality, hence aiding subsequent validation of them.</a:t>
            </a:r>
          </a:p>
          <a:p>
            <a:pPr lvl="0"/>
            <a:r>
              <a:rPr/>
              <a:t>And we develop specific R packages with these best practices that can thus be easily validated.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43 members</a:t>
            </a:r>
          </a:p>
          <a:p>
            <a:pPr lvl="1"/>
            <a:r>
              <a:rPr/>
              <a:t>new members are welcome! (incl. academia/regulators/etc.)</a:t>
            </a:r>
          </a:p>
          <a:p>
            <a:pPr lvl="0"/>
            <a:r>
              <a:rPr/>
              <a:t>Currently 36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Regeneron, Roche, RPACT, Sanofi, Stealth Bio, The George Institute for Global Health, UCB, Winicker Norimed</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We have run comparison analyses with other R packages, namely </a:t>
            </a:r>
            <a:r>
              <a:rPr>
                <a:latin typeface="Courier"/>
              </a:rPr>
              <a:t>nlme</a:t>
            </a:r>
            <a:r>
              <a:rPr/>
              <a:t>, </a:t>
            </a:r>
            <a:r>
              <a:rPr>
                <a:latin typeface="Courier"/>
              </a:rPr>
              <a:t>glmmTMB</a:t>
            </a:r>
            <a:r>
              <a:rPr/>
              <a:t> and </a:t>
            </a:r>
            <a:r>
              <a:rPr>
                <a:latin typeface="Courier"/>
              </a:rPr>
              <a:t>lme4</a:t>
            </a:r>
            <a:r>
              <a:rPr/>
              <a:t> as well as SAS </a:t>
            </a:r>
            <a:r>
              <a:rPr>
                <a:latin typeface="Courier"/>
              </a:rPr>
              <a:t>PROC GLIMMIX</a:t>
            </a:r>
            <a:r>
              <a:rPr/>
              <a:t> and have found that </a:t>
            </a:r>
            <a:r>
              <a:rPr>
                <a:latin typeface="Courier"/>
              </a:rPr>
              <a:t>mmrm</a:t>
            </a:r>
            <a:r>
              <a:rPr/>
              <a:t> is the fastest of them and provides closest results to </a:t>
            </a:r>
            <a:r>
              <a:rPr>
                <a:latin typeface="Courier"/>
              </a:rPr>
              <a:t>PROC GLIMMIX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change log, documentation, package design, user experience, maintainability, publication, etc.</a:t>
            </a:r>
          </a:p>
          <a:p>
            <a:pPr lvl="0"/>
            <a:r>
              <a:rPr/>
              <a:t>Workshop “Good Software Engineering Practice for R Packages” on world tour</a:t>
            </a:r>
          </a:p>
          <a:p>
            <a:pPr lvl="1"/>
            <a:r>
              <a:rPr/>
              <a:t>Basel, Shanghai, San José, Rockville (last Tuesday),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ASA/FDA workshop (now)</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 and 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Publicize our new short name </a:t>
            </a:r>
            <a:r>
              <a:rPr>
                <a:latin typeface="Courier"/>
              </a:rPr>
              <a:t>openstatsware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2026-06-23T02:51:03Z</dcterms:created>
  <dcterms:modified xsi:type="dcterms:W3CDTF">2026-06-23T02:51:03Z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2023-09-29</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Regulatory-Industry Statistics Workshop 2023</vt:lpwstr>
  </property>
  <property fmtid="{D5CDD505-2E9C-101B-9397-08002B2CF9AE}" pid="15" name="toc-title">
    <vt:lpwstr>Outline</vt:lpwstr>
  </property>
</Properties>
</file>