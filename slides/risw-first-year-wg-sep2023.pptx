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12.xml" /><Relationship Id="rId4" Type="http://schemas.openxmlformats.org/officeDocument/2006/relationships/slide" Target="slide17.xml" /><Relationship Id="rId5" Type="http://schemas.openxmlformats.org/officeDocument/2006/relationships/slide" Target="slide23.xml" /><Relationship Id="rId6" Type="http://schemas.openxmlformats.org/officeDocument/2006/relationships/slide" Target="slide27.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dvance.phuse.global/pages/viewpage.action?pageId=327874" TargetMode="External" /><Relationship Id="rId3" Type="http://schemas.openxmlformats.org/officeDocument/2006/relationships/hyperlink" Target="https://www.psiweb.org/sigs-special-interest-groups/aims" TargetMode="External" /><Relationship Id="rId4" Type="http://schemas.openxmlformats.org/officeDocument/2006/relationships/hyperlink" Target="https://rconsortium.github.io/submissions-wg/" TargetMode="External" /><Relationship Id="rId5" Type="http://schemas.openxmlformats.org/officeDocument/2006/relationships/hyperlink" Target="https://rconsortium.github.io/rtrs-wg/" TargetMode="External" /><Relationship Id="rId6" Type="http://schemas.openxmlformats.org/officeDocument/2006/relationships/hyperlink" Target="https://pharmar.org" TargetMode="External" /><Relationship Id="rId7" Type="http://schemas.openxmlformats.org/officeDocument/2006/relationships/hyperlink" Target="https://github.com/RConsortium/r-repositories-wg"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pharmar.org/"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consortium.github.io/asa-biop-swe-wg/mmrm_R_package.html" TargetMode="External" /><Relationship Id="rId3" Type="http://schemas.openxmlformats.org/officeDocument/2006/relationships/hyperlink" Target="https://rconsortium.github.io/asa-biop-swe-wg/bayesian_mmrm_R_package.html" TargetMode="External" /><Relationship Id="rId4" Type="http://schemas.openxmlformats.org/officeDocument/2006/relationships/hyperlink" Target="https://github.com/hta-pharma/"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penpharma.github.io/mmrm/" TargetMode="External" /><Relationship Id="rId3" Type="http://schemas.openxmlformats.org/officeDocument/2006/relationships/hyperlink" Target="https://cran.r-project.org/package=mmrm" TargetMode="External" /><Relationship Id="rId4" Type="http://schemas.openxmlformats.org/officeDocument/2006/relationships/hyperlink" Target="https://openpharma.github.io/brms.mmrm/" TargetMode="External" /><Relationship Id="rId5" Type="http://schemas.openxmlformats.org/officeDocument/2006/relationships/hyperlink" Target="https://cran.r-project.org/package=brms.mmrm"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penpharma.github.io/workshop-r-swe-mtl/" TargetMode="External" /><Relationship Id="rId3" Type="http://schemas.openxmlformats.org/officeDocument/2006/relationships/hyperlink" Target="https://www.youtube.com/playlist?list=PL848NFA2PWgCR35n02yn1ZV7JqSu3NMxS"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consortium.github.io/asa-biop-swe-wg/presentations.html" TargetMode="External" /><Relationship Id="rId3" Type="http://schemas.openxmlformats.org/officeDocument/2006/relationships/hyperlink" Target="https://rconsortium.github.io/asa-biop-swe-wg/blog/biop_report/" TargetMode="External" /><Relationship Id="rId4" Type="http://schemas.openxmlformats.org/officeDocument/2006/relationships/hyperlink" Target="https://rconsortium.github.io/asa-biop-swe-wg/blog.html"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First year of the Software Engineering working group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Regulatory-Industry Statistics Workshop 2023</a:t>
            </a:r>
            <a:br/>
            <a:br/>
            <a:r>
              <a:rPr/>
              <a:t>Daniel Sabanés Bové (Roche) and Ya Wang (Gilead) on behalf of the working group</a:t>
            </a:r>
          </a:p>
        </p:txBody>
      </p:sp>
      <p:sp>
        <p:nvSpPr>
          <p:cNvPr id="4" name="Date Placeholder 3"/>
          <p:cNvSpPr>
            <a:spLocks noGrp="1"/>
          </p:cNvSpPr>
          <p:nvPr>
            <p:ph idx="10" sz="half" type="dt"/>
          </p:nvPr>
        </p:nvSpPr>
        <p:spPr/>
        <p:txBody>
          <a:bodyPr/>
          <a:lstStyle/>
          <a:p>
            <a:pPr lvl="0" indent="0" marL="0">
              <a:buNone/>
            </a:pPr>
            <a:r>
              <a:rPr/>
              <a:t>2023-09-29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hlinkClick r:id="rId2" action="ppaction://hlinksldjump"/>
              </a:rPr>
              <a:t>Introducing the WG</a:t>
            </a:r>
          </a:p>
          <a:p>
            <a:pPr lvl="0"/>
            <a:r>
              <a:rPr>
                <a:hlinkClick r:id="rId3" action="ppaction://hlinksldjump"/>
              </a:rPr>
              <a:t>Achievements in the first year</a:t>
            </a:r>
          </a:p>
          <a:p>
            <a:pPr lvl="0"/>
            <a:r>
              <a:rPr>
                <a:hlinkClick r:id="rId4" action="ppaction://hlinksldjump"/>
              </a:rPr>
              <a:t>Ingredients for successful and sustainable collaboration</a:t>
            </a:r>
          </a:p>
          <a:p>
            <a:pPr lvl="0"/>
            <a:r>
              <a:rPr>
                <a:hlinkClick r:id="rId5" action="ppaction://hlinksldjump"/>
              </a:rPr>
              <a:t>Long term vision</a:t>
            </a:r>
          </a:p>
          <a:p>
            <a:pPr lvl="0"/>
            <a:r>
              <a:rPr>
                <a:hlinkClick r:id="rId6" action="ppaction://hlinksldjump"/>
              </a:rPr>
              <a:t>Next steps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Introducing the WG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Working Group</a:t>
            </a:r>
          </a:p>
        </p:txBody>
      </p:sp>
      <p:sp>
        <p:nvSpPr>
          <p:cNvPr id="3" name="Content Placeholder 2"/>
          <p:cNvSpPr>
            <a:spLocks noGrp="1"/>
          </p:cNvSpPr>
          <p:nvPr>
            <p:ph idx="1" sz="half"/>
          </p:nvPr>
        </p:nvSpPr>
        <p:spPr/>
        <p:txBody>
          <a:bodyPr/>
          <a:lstStyle/>
          <a:p>
            <a:pPr lvl="0" indent="0" marL="0">
              <a:buNone/>
            </a:pPr>
            <a:r>
              <a:rPr/>
              <a:t>Founded last year:</a:t>
            </a:r>
          </a:p>
          <a:p>
            <a:pPr lvl="0"/>
            <a:r>
              <a:rPr/>
              <a:t>When: 19 August 2022 - just celebrated our 1 year birthday!</a:t>
            </a:r>
          </a:p>
          <a:p>
            <a:pPr lvl="0"/>
            <a:r>
              <a:rPr/>
              <a:t>Where: American Statistical Association (ASA) Biopharmaceutical Section (BIOP)</a:t>
            </a:r>
          </a:p>
          <a:p>
            <a:pPr lvl="0"/>
            <a:r>
              <a:rPr/>
              <a:t>Who: 11 statisticians from 7 pharma companies developing statistical software</a:t>
            </a:r>
          </a:p>
          <a:p>
            <a:pPr lvl="0"/>
            <a:r>
              <a:rPr/>
              <a:t>New name: </a:t>
            </a:r>
            <a:r>
              <a:rPr>
                <a:latin typeface="Courier"/>
              </a:rPr>
              <a:t>openstatsware</a:t>
            </a:r>
          </a:p>
        </p:txBody>
      </p:sp>
      <p:pic>
        <p:nvPicPr>
          <p:cNvPr descr="../sticker/sticker-new-1200.png" id="0" name="Picture 1"/>
          <p:cNvPicPr>
            <a:picLocks noGrp="1" noChangeAspect="1"/>
          </p:cNvPicPr>
          <p:nvPr/>
        </p:nvPicPr>
        <p:blipFill>
          <a:blip r:embed="rId2"/>
          <a:stretch>
            <a:fillRect/>
          </a:stretch>
        </p:blipFill>
        <p:spPr bwMode="auto">
          <a:xfrm>
            <a:off x="5207000" y="1193800"/>
            <a:ext cx="29337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 new WG?</a:t>
            </a:r>
          </a:p>
        </p:txBody>
      </p:sp>
      <p:sp>
        <p:nvSpPr>
          <p:cNvPr id="3" name="Content Placeholder 2"/>
          <p:cNvSpPr>
            <a:spLocks noGrp="1"/>
          </p:cNvSpPr>
          <p:nvPr>
            <p:ph idx="1"/>
          </p:nvPr>
        </p:nvSpPr>
        <p:spPr/>
        <p:txBody>
          <a:bodyPr/>
          <a:lstStyle/>
          <a:p>
            <a:pPr lvl="0"/>
            <a:r>
              <a:rPr/>
              <a:t>Started with specific R-package project (more below)</a:t>
            </a:r>
          </a:p>
          <a:p>
            <a:pPr lvl="0"/>
            <a:r>
              <a:rPr/>
              <a:t>Makes sense to stay together as a group also for other package projects</a:t>
            </a:r>
          </a:p>
          <a:p>
            <a:pPr lvl="0"/>
            <a:r>
              <a:rPr/>
              <a:t>New focus on good engineering practices and collaborative work</a:t>
            </a:r>
          </a:p>
          <a:p>
            <a:pPr lvl="0"/>
            <a:r>
              <a:rPr/>
              <a:t>Importance of reliable software for statistical analysis can not be underestimated</a:t>
            </a:r>
          </a:p>
          <a:p>
            <a:pPr lvl="0"/>
            <a:r>
              <a:rPr/>
              <a:t>Be rooted in the biostatistics community (rather than statistical programming)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there are other WGs?</a:t>
            </a:r>
          </a:p>
        </p:txBody>
      </p:sp>
      <p:sp>
        <p:nvSpPr>
          <p:cNvPr id="3" name="Content Placeholder 2"/>
          <p:cNvSpPr>
            <a:spLocks noGrp="1"/>
          </p:cNvSpPr>
          <p:nvPr>
            <p:ph idx="1"/>
          </p:nvPr>
        </p:nvSpPr>
        <p:spPr/>
        <p:txBody>
          <a:bodyPr/>
          <a:lstStyle/>
          <a:p>
            <a:pPr lvl="0"/>
            <a:r>
              <a:rPr/>
              <a:t>Comparing Analysis Method Implementations in Software (CAMIS) of PhUSE </a:t>
            </a:r>
            <a:r>
              <a:rPr>
                <a:hlinkClick r:id="rId2"/>
              </a:rPr>
              <a:t>🌎</a:t>
            </a:r>
          </a:p>
          <a:p>
            <a:pPr lvl="0"/>
            <a:r>
              <a:rPr/>
              <a:t>Application and Implementation of Methodologies in Statistics (AIMS) Special Interest Group (SIG) of PSI </a:t>
            </a:r>
            <a:r>
              <a:rPr>
                <a:hlinkClick r:id="rId3"/>
              </a:rPr>
              <a:t>🌎</a:t>
            </a:r>
          </a:p>
          <a:p>
            <a:pPr lvl="0"/>
            <a:r>
              <a:rPr/>
              <a:t>R Submission Working Group of R Consortium </a:t>
            </a:r>
            <a:r>
              <a:rPr>
                <a:hlinkClick r:id="rId4"/>
              </a:rPr>
              <a:t>🌎</a:t>
            </a:r>
          </a:p>
          <a:p>
            <a:pPr lvl="0"/>
            <a:r>
              <a:rPr/>
              <a:t>R Tables for Regulatory Submissions Working Group of R Consortium </a:t>
            </a:r>
            <a:r>
              <a:rPr>
                <a:hlinkClick r:id="rId5"/>
              </a:rPr>
              <a:t>🌎</a:t>
            </a:r>
          </a:p>
          <a:p>
            <a:pPr lvl="0"/>
            <a:r>
              <a:rPr/>
              <a:t>R Validation Hub </a:t>
            </a:r>
            <a:r>
              <a:rPr>
                <a:hlinkClick r:id="rId6"/>
              </a:rPr>
              <a:t>🌎</a:t>
            </a:r>
          </a:p>
          <a:p>
            <a:pPr lvl="0"/>
            <a:r>
              <a:rPr/>
              <a:t>R Repositories WG of R Consortium </a:t>
            </a:r>
            <a:r>
              <a:rPr>
                <a:hlinkClick r:id="rId7"/>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WG Objectives</a:t>
            </a:r>
          </a:p>
        </p:txBody>
      </p:sp>
      <p:sp>
        <p:nvSpPr>
          <p:cNvPr id="3" name="Content Placeholder 2"/>
          <p:cNvSpPr>
            <a:spLocks noGrp="1"/>
          </p:cNvSpPr>
          <p:nvPr>
            <p:ph idx="1"/>
          </p:nvPr>
        </p:nvSpPr>
        <p:spPr/>
        <p:txBody>
          <a:bodyPr/>
          <a:lstStyle/>
          <a:p>
            <a:pPr lvl="0"/>
            <a:r>
              <a:rPr/>
              <a:t>Primary:</a:t>
            </a:r>
          </a:p>
          <a:p>
            <a:pPr lvl="1"/>
            <a:r>
              <a:rPr/>
              <a:t>Engineer R packages that implement important statistical methods</a:t>
            </a:r>
          </a:p>
          <a:p>
            <a:pPr lvl="1"/>
            <a:r>
              <a:rPr/>
              <a:t>… to fill in gaps in the open-source statistical software landscape</a:t>
            </a:r>
          </a:p>
          <a:p>
            <a:pPr lvl="1"/>
            <a:r>
              <a:rPr/>
              <a:t>… focusing on what is needed for biopharmaceutical applications</a:t>
            </a:r>
          </a:p>
          <a:p>
            <a:pPr lvl="0"/>
            <a:r>
              <a:rPr/>
              <a:t>Secondary:</a:t>
            </a:r>
          </a:p>
          <a:p>
            <a:pPr lvl="1"/>
            <a:r>
              <a:rPr/>
              <a:t>Develop and disseminate best practices for engineering high-quality open-source statistical software</a:t>
            </a:r>
          </a:p>
          <a:p>
            <a:pPr lvl="0"/>
            <a:r>
              <a:rPr/>
              <a:t>By actively doing the statistical engineering work together, we align on best practices and can communicate these to others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Relation to the validation topic</a:t>
            </a:r>
          </a:p>
        </p:txBody>
      </p:sp>
      <p:sp>
        <p:nvSpPr>
          <p:cNvPr id="3" name="Content Placeholder 2"/>
          <p:cNvSpPr>
            <a:spLocks noGrp="1"/>
          </p:cNvSpPr>
          <p:nvPr>
            <p:ph idx="1"/>
          </p:nvPr>
        </p:nvSpPr>
        <p:spPr/>
        <p:txBody>
          <a:bodyPr/>
          <a:lstStyle/>
          <a:p>
            <a:pPr lvl="0"/>
            <a:r>
              <a:rPr/>
              <a:t>Validation is on every one’s mind when talking about open source in Pharma:</a:t>
            </a:r>
          </a:p>
          <a:p>
            <a:pPr lvl="1"/>
            <a:r>
              <a:rPr/>
              <a:t>“Establishing documented evidence which provides a high degree of assurance (accuracy) that a specific process consistently (reproducibility) produces a product meeting its predetermined specifications (traceability) and quality attributes.”</a:t>
            </a:r>
          </a:p>
          <a:p>
            <a:pPr lvl="0"/>
            <a:r>
              <a:rPr/>
              <a:t>The </a:t>
            </a:r>
            <a:r>
              <a:rPr>
                <a:hlinkClick r:id="rId2"/>
              </a:rPr>
              <a:t>R Validation Hub</a:t>
            </a:r>
            <a:r>
              <a:rPr/>
              <a:t> is a collaboration to support the adoption of R within a biopharmaceutical regulatory setting</a:t>
            </a:r>
          </a:p>
          <a:p>
            <a:pPr lvl="1"/>
            <a:r>
              <a:rPr/>
              <a:t>Develops tools that supports risk assessment of R packages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Relation to the validation topic (cont’d)</a:t>
            </a:r>
          </a:p>
        </p:txBody>
      </p:sp>
      <p:sp>
        <p:nvSpPr>
          <p:cNvPr id="3" name="Content Placeholder 2"/>
          <p:cNvSpPr>
            <a:spLocks noGrp="1"/>
          </p:cNvSpPr>
          <p:nvPr>
            <p:ph idx="1"/>
          </p:nvPr>
        </p:nvSpPr>
        <p:spPr/>
        <p:txBody>
          <a:bodyPr/>
          <a:lstStyle/>
          <a:p>
            <a:pPr lvl="0"/>
            <a:r>
              <a:rPr/>
              <a:t>Base R and recommended packages are developed by the R Foundation, developed using best practices.</a:t>
            </a:r>
          </a:p>
          <a:p>
            <a:pPr lvl="0"/>
            <a:r>
              <a:rPr/>
              <a:t>Our working group is spreading the word about best development practices such that contributed packages can achieve the same level of quality, hence aiding subsequent validation of them.</a:t>
            </a:r>
          </a:p>
          <a:p>
            <a:pPr lvl="0"/>
            <a:r>
              <a:rPr/>
              <a:t>And we develop specific R packages with these best practices that can thus be easily validated.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Members and meetings</a:t>
            </a:r>
          </a:p>
        </p:txBody>
      </p:sp>
      <p:sp>
        <p:nvSpPr>
          <p:cNvPr id="3" name="Content Placeholder 2"/>
          <p:cNvSpPr>
            <a:spLocks noGrp="1"/>
          </p:cNvSpPr>
          <p:nvPr>
            <p:ph idx="1"/>
          </p:nvPr>
        </p:nvSpPr>
        <p:spPr/>
        <p:txBody>
          <a:bodyPr/>
          <a:lstStyle/>
          <a:p>
            <a:pPr lvl="0"/>
            <a:r>
              <a:rPr/>
              <a:t>Currently 42 members</a:t>
            </a:r>
          </a:p>
          <a:p>
            <a:pPr lvl="1"/>
            <a:r>
              <a:rPr/>
              <a:t>new members are welcome! (incl. academia/regulators/etc.)</a:t>
            </a:r>
          </a:p>
          <a:p>
            <a:pPr lvl="0"/>
            <a:r>
              <a:rPr/>
              <a:t>Currently 36 organizations</a:t>
            </a:r>
          </a:p>
          <a:p>
            <a:pPr lvl="1"/>
            <a:r>
              <a:rPr/>
              <a:t>Alpha Stats Ltd., argenx, AstraZeneca, BASF, Bayer, Berry Consultants, BMS, Boehringer Ingelheim, CIMS Global, Daiichi Sankyo, Eli Lilly, Finc Research, Genentech, Gilead Sciences, GSK, ICON, Independent, Jumping Rivers, MaxisIT, Merck, Merck KGaA, Mirum, MSD, Novartis, Novo Nordisk, Pfizer, Priothera, RCONIS, Red Door Analytics, Regeneron, Roche, RPACT, Sanofi, Stealth Bio, The George Institute for Global Health, UCB</a:t>
            </a:r>
          </a:p>
          <a:p>
            <a:pPr lvl="0"/>
            <a:r>
              <a:rPr/>
              <a:t>Meet every 2 weeks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Workstreams</a:t>
            </a:r>
          </a:p>
        </p:txBody>
      </p:sp>
      <p:sp>
        <p:nvSpPr>
          <p:cNvPr id="3" name="Content Placeholder 2"/>
          <p:cNvSpPr>
            <a:spLocks noGrp="1"/>
          </p:cNvSpPr>
          <p:nvPr>
            <p:ph idx="1"/>
          </p:nvPr>
        </p:nvSpPr>
        <p:spPr/>
        <p:txBody>
          <a:bodyPr/>
          <a:lstStyle/>
          <a:p>
            <a:pPr lvl="0"/>
            <a:r>
              <a:rPr/>
              <a:t>Mixed Models for Repeated Measures (MMRM) </a:t>
            </a:r>
            <a:r>
              <a:rPr>
                <a:hlinkClick r:id="rId2"/>
              </a:rPr>
              <a:t>🌎</a:t>
            </a:r>
          </a:p>
          <a:p>
            <a:pPr lvl="1"/>
            <a:r>
              <a:rPr/>
              <a:t>Develop </a:t>
            </a:r>
            <a:r>
              <a:rPr>
                <a:latin typeface="Courier"/>
              </a:rPr>
              <a:t>mmrm</a:t>
            </a:r>
            <a:r>
              <a:rPr/>
              <a:t> (see below) to use frequentist inference in MMRM</a:t>
            </a:r>
          </a:p>
          <a:p>
            <a:pPr lvl="0"/>
            <a:r>
              <a:rPr/>
              <a:t>Bayesian MMRM </a:t>
            </a:r>
            <a:r>
              <a:rPr>
                <a:hlinkClick r:id="rId3"/>
              </a:rPr>
              <a:t>🌎</a:t>
            </a:r>
          </a:p>
          <a:p>
            <a:pPr lvl="1"/>
            <a:r>
              <a:rPr/>
              <a:t>Develop </a:t>
            </a:r>
            <a:r>
              <a:rPr>
                <a:latin typeface="Courier"/>
              </a:rPr>
              <a:t>brms.mmrm</a:t>
            </a:r>
            <a:r>
              <a:rPr/>
              <a:t> (see below)</a:t>
            </a:r>
          </a:p>
          <a:p>
            <a:pPr lvl="0"/>
            <a:r>
              <a:rPr/>
              <a:t>Health Technology Assessment </a:t>
            </a:r>
            <a:r>
              <a:rPr>
                <a:hlinkClick r:id="rId4"/>
              </a:rPr>
              <a:t>🌎</a:t>
            </a:r>
          </a:p>
          <a:p>
            <a:pPr lvl="1"/>
            <a:r>
              <a:rPr/>
              <a:t>Develop open-source R tools to support HTA dossier submission across various countries, particularly the topics with unmet needs in R implementation and/or related to EUnetHTA</a:t>
            </a:r>
          </a:p>
          <a:p>
            <a:pPr lvl="0"/>
            <a:r>
              <a:rPr/>
              <a:t>Note: Also “just” contributing to workstreams is great!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Achievements in the first year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New R packages released to CRAN</a:t>
            </a:r>
          </a:p>
        </p:txBody>
      </p:sp>
      <p:sp>
        <p:nvSpPr>
          <p:cNvPr id="3" name="Content Placeholder 2"/>
          <p:cNvSpPr>
            <a:spLocks noGrp="1"/>
          </p:cNvSpPr>
          <p:nvPr>
            <p:ph idx="1"/>
          </p:nvPr>
        </p:nvSpPr>
        <p:spPr/>
        <p:txBody>
          <a:bodyPr/>
          <a:lstStyle/>
          <a:p>
            <a:pPr lvl="0"/>
            <a:r>
              <a:rPr>
                <a:latin typeface="Courier"/>
              </a:rPr>
              <a:t>mmrm</a:t>
            </a:r>
          </a:p>
          <a:p>
            <a:pPr lvl="1"/>
            <a:r>
              <a:rPr/>
              <a:t>R package for frequentist inference in MMRM, based on </a:t>
            </a:r>
            <a:r>
              <a:rPr>
                <a:latin typeface="Courier"/>
              </a:rPr>
              <a:t>TMB</a:t>
            </a:r>
            <a:r>
              <a:rPr/>
              <a:t> (which provides automatic differentiation in </a:t>
            </a:r>
            <a:r>
              <a:rPr>
                <a:latin typeface="Courier"/>
              </a:rPr>
              <a:t>C++</a:t>
            </a:r>
            <a:r>
              <a:rPr/>
              <a:t> and R frontend)</a:t>
            </a:r>
          </a:p>
          <a:p>
            <a:pPr lvl="1"/>
            <a:r>
              <a:rPr/>
              <a:t>See documentation </a:t>
            </a:r>
            <a:r>
              <a:rPr>
                <a:hlinkClick r:id="rId2"/>
              </a:rPr>
              <a:t>🌎</a:t>
            </a:r>
          </a:p>
          <a:p>
            <a:pPr lvl="1"/>
            <a:r>
              <a:rPr/>
              <a:t>Easiest to install from CRAN </a:t>
            </a:r>
            <a:r>
              <a:rPr>
                <a:hlinkClick r:id="rId3"/>
              </a:rPr>
              <a:t>🌎</a:t>
            </a:r>
          </a:p>
          <a:p>
            <a:pPr lvl="0"/>
            <a:r>
              <a:rPr>
                <a:latin typeface="Courier"/>
              </a:rPr>
              <a:t>brms.mmrm</a:t>
            </a:r>
          </a:p>
          <a:p>
            <a:pPr lvl="1"/>
            <a:r>
              <a:rPr/>
              <a:t>R package for Bayesian inference in MMRM, based on </a:t>
            </a:r>
            <a:r>
              <a:rPr>
                <a:latin typeface="Courier"/>
              </a:rPr>
              <a:t>brms</a:t>
            </a:r>
            <a:r>
              <a:rPr/>
              <a:t> (as Stan frontend for HMC sampling)</a:t>
            </a:r>
          </a:p>
          <a:p>
            <a:pPr lvl="1"/>
            <a:r>
              <a:rPr/>
              <a:t>See documentation </a:t>
            </a:r>
            <a:r>
              <a:rPr>
                <a:hlinkClick r:id="rId4"/>
              </a:rPr>
              <a:t>🌎</a:t>
            </a:r>
          </a:p>
          <a:p>
            <a:pPr lvl="1"/>
            <a:r>
              <a:rPr/>
              <a:t>Easiest to install from CRAN </a:t>
            </a:r>
            <a:r>
              <a:rPr>
                <a:hlinkClick r:id="rId5"/>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was the MMRM topic important?</a:t>
            </a:r>
          </a:p>
        </p:txBody>
      </p:sp>
      <p:sp>
        <p:nvSpPr>
          <p:cNvPr id="3" name="Content Placeholder 2"/>
          <p:cNvSpPr>
            <a:spLocks noGrp="1"/>
          </p:cNvSpPr>
          <p:nvPr>
            <p:ph idx="1"/>
          </p:nvPr>
        </p:nvSpPr>
        <p:spPr/>
        <p:txBody>
          <a:bodyPr/>
          <a:lstStyle/>
          <a:p>
            <a:pPr lvl="0"/>
            <a:r>
              <a:rPr/>
              <a:t>MMRM is a popular analysis method for longitudinal continuous outcomes in randomized clinical trials</a:t>
            </a:r>
          </a:p>
          <a:p>
            <a:pPr lvl="0"/>
            <a:r>
              <a:rPr/>
              <a:t>No tailored R package with sufficient capabilities/reliability</a:t>
            </a:r>
          </a:p>
          <a:p>
            <a:pPr lvl="0"/>
            <a:r>
              <a:rPr/>
              <a:t>Also used as backbone for more recent methods such as multiple imputation</a:t>
            </a:r>
          </a:p>
          <a:p>
            <a:pPr lvl="0"/>
            <a:r>
              <a:rPr/>
              <a:t>We have run comparison analyses with other R packages, namely </a:t>
            </a:r>
            <a:r>
              <a:rPr>
                <a:latin typeface="Courier"/>
              </a:rPr>
              <a:t>nlme</a:t>
            </a:r>
            <a:r>
              <a:rPr/>
              <a:t>, </a:t>
            </a:r>
            <a:r>
              <a:rPr>
                <a:latin typeface="Courier"/>
              </a:rPr>
              <a:t>glmmTMB</a:t>
            </a:r>
            <a:r>
              <a:rPr/>
              <a:t> and </a:t>
            </a:r>
            <a:r>
              <a:rPr>
                <a:latin typeface="Courier"/>
              </a:rPr>
              <a:t>lme4</a:t>
            </a:r>
            <a:r>
              <a:rPr/>
              <a:t> as well as SAS </a:t>
            </a:r>
            <a:r>
              <a:rPr>
                <a:latin typeface="Courier"/>
              </a:rPr>
              <a:t>PROC GLIMMIX</a:t>
            </a:r>
            <a:r>
              <a:rPr/>
              <a:t> and have found that </a:t>
            </a:r>
            <a:r>
              <a:rPr>
                <a:latin typeface="Courier"/>
              </a:rPr>
              <a:t>mmrm</a:t>
            </a:r>
            <a:r>
              <a:rPr/>
              <a:t> is the fastest of them and provides closest results to </a:t>
            </a:r>
            <a:r>
              <a:rPr>
                <a:latin typeface="Courier"/>
              </a:rPr>
              <a:t>PROC GLIMMIX</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a:r>
              <a:rPr/>
              <a:t>Includes version control, git workflow, code review, unit/integration testing, continuous integration/delivery (ci/cd), reproducibility, change log, documentation, package design, user experience, maintainability, publication, etc.</a:t>
            </a:r>
          </a:p>
          <a:p>
            <a:pPr lvl="0"/>
            <a:r>
              <a:rPr/>
              <a:t>Workshop “Good Software Engineering Practice for R Packages” on world tour</a:t>
            </a:r>
          </a:p>
          <a:p>
            <a:pPr lvl="1"/>
            <a:r>
              <a:rPr/>
              <a:t>Basel, Shanghai, San José, Rockville (last Tuesday), Montreal </a:t>
            </a:r>
            <a:r>
              <a:rPr>
                <a:hlinkClick r:id="rId2"/>
              </a:rPr>
              <a:t>🌎</a:t>
            </a:r>
          </a:p>
          <a:p>
            <a:pPr lvl="0"/>
            <a:r>
              <a:rPr/>
              <a:t>Start of video series “Statistical Software Engineering 101” </a:t>
            </a:r>
            <a:r>
              <a:rPr>
                <a:hlinkClick r:id="rId3"/>
              </a:rPr>
              <a:t>🌎</a:t>
            </a:r>
          </a:p>
          <a:p>
            <a:pPr lvl="1"/>
            <a:r>
              <a:rPr/>
              <a:t>currently 2 videos, hopefully we can still produce more content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Conference contributions and Publications</a:t>
            </a:r>
          </a:p>
        </p:txBody>
      </p:sp>
      <p:sp>
        <p:nvSpPr>
          <p:cNvPr id="3" name="Content Placeholder 2"/>
          <p:cNvSpPr>
            <a:spLocks noGrp="1"/>
          </p:cNvSpPr>
          <p:nvPr>
            <p:ph idx="1"/>
          </p:nvPr>
        </p:nvSpPr>
        <p:spPr/>
        <p:txBody>
          <a:bodyPr/>
          <a:lstStyle/>
          <a:p>
            <a:pPr lvl="0"/>
            <a:r>
              <a:rPr/>
              <a:t>Dedicated sessions with discussions at ISCB, CEN, ASA/FDA workshop (now)</a:t>
            </a:r>
          </a:p>
          <a:p>
            <a:pPr lvl="0"/>
            <a:r>
              <a:rPr/>
              <a:t>Presentations at PSI, JSM, Pharma RUG, BBS, etc. </a:t>
            </a:r>
            <a:r>
              <a:rPr>
                <a:hlinkClick r:id="rId2"/>
              </a:rPr>
              <a:t>🌎</a:t>
            </a:r>
          </a:p>
          <a:p>
            <a:pPr lvl="0"/>
            <a:r>
              <a:rPr/>
              <a:t>BIOP Report </a:t>
            </a:r>
            <a:r>
              <a:rPr>
                <a:hlinkClick r:id="rId3"/>
              </a:rPr>
              <a:t>🌎</a:t>
            </a:r>
          </a:p>
          <a:p>
            <a:pPr lvl="0"/>
            <a:r>
              <a:rPr/>
              <a:t>Blog </a:t>
            </a:r>
            <a:r>
              <a:rPr>
                <a:hlinkClick r:id="rId4"/>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Ingredients for successful and sustainable collaboration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 factors</a:t>
            </a:r>
          </a:p>
        </p:txBody>
      </p:sp>
      <p:sp>
        <p:nvSpPr>
          <p:cNvPr id="3" name="Content Placeholder 2"/>
          <p:cNvSpPr>
            <a:spLocks noGrp="1"/>
          </p:cNvSpPr>
          <p:nvPr>
            <p:ph idx="1"/>
          </p:nvPr>
        </p:nvSpPr>
        <p:spPr/>
        <p:txBody>
          <a:bodyPr/>
          <a:lstStyle/>
          <a:p>
            <a:pPr lvl="0"/>
            <a:r>
              <a:rPr/>
              <a:t>Mutual interest and mutual trust</a:t>
            </a:r>
          </a:p>
          <a:p>
            <a:pPr lvl="0"/>
            <a:r>
              <a:rPr/>
              <a:t>Prerequisite is getting to know each other</a:t>
            </a:r>
          </a:p>
          <a:p>
            <a:pPr lvl="1"/>
            <a:r>
              <a:rPr/>
              <a:t>Although mostly just online, biweekly calls help a lot with this</a:t>
            </a:r>
          </a:p>
          <a:p>
            <a:pPr lvl="0"/>
            <a:r>
              <a:rPr/>
              <a:t>Reciprocity mindset</a:t>
            </a:r>
          </a:p>
          <a:p>
            <a:pPr lvl="1"/>
            <a:r>
              <a:rPr/>
              <a:t>“Reciprocity means that in response to friendly actions, people are frequently much nicer and much more cooperative than predicted by the self-interest model”</a:t>
            </a:r>
          </a:p>
          <a:p>
            <a:pPr lvl="1"/>
            <a:r>
              <a:rPr/>
              <a:t>Personal experience: If you first give away something, more will come back to you.</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Development process</a:t>
            </a:r>
          </a:p>
        </p:txBody>
      </p:sp>
      <p:sp>
        <p:nvSpPr>
          <p:cNvPr id="3" name="Content Placeholder 2"/>
          <p:cNvSpPr>
            <a:spLocks noGrp="1"/>
          </p:cNvSpPr>
          <p:nvPr>
            <p:ph idx="1"/>
          </p:nvPr>
        </p:nvSpPr>
        <p:spPr/>
        <p:txBody>
          <a:bodyPr/>
          <a:lstStyle/>
          <a:p>
            <a:pPr lvl="0"/>
            <a:r>
              <a:rPr/>
              <a:t>Important to go public as soon as possible</a:t>
            </a:r>
          </a:p>
          <a:p>
            <a:pPr lvl="1"/>
            <a:r>
              <a:rPr/>
              <a:t>don’t wait for the product to be finished</a:t>
            </a:r>
          </a:p>
          <a:p>
            <a:pPr lvl="1"/>
            <a:r>
              <a:rPr/>
              <a:t>you never know who else might be interested/could help</a:t>
            </a:r>
          </a:p>
          <a:p>
            <a:pPr lvl="0"/>
            <a:r>
              <a:rPr/>
              <a:t>Version control with git</a:t>
            </a:r>
          </a:p>
          <a:p>
            <a:pPr lvl="1"/>
            <a:r>
              <a:rPr/>
              <a:t>cornerstone of effective collaboration</a:t>
            </a:r>
          </a:p>
          <a:p>
            <a:pPr lvl="0"/>
            <a:r>
              <a:rPr/>
              <a:t>Building software together works better than alone</a:t>
            </a:r>
          </a:p>
          <a:p>
            <a:pPr lvl="1"/>
            <a:r>
              <a:rPr/>
              <a:t>Different perspectives in discussions and code review help to optimize the user interface and thus experience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standards</a:t>
            </a:r>
          </a:p>
        </p:txBody>
      </p:sp>
      <p:sp>
        <p:nvSpPr>
          <p:cNvPr id="3" name="Content Placeholder 2"/>
          <p:cNvSpPr>
            <a:spLocks noGrp="1"/>
          </p:cNvSpPr>
          <p:nvPr>
            <p:ph idx="1"/>
          </p:nvPr>
        </p:nvSpPr>
        <p:spPr/>
        <p:txBody>
          <a:bodyPr/>
          <a:lstStyle/>
          <a:p>
            <a:pPr lvl="0"/>
            <a:r>
              <a:rPr/>
              <a:t>Consistent and readable code style simplifies joint work</a:t>
            </a:r>
          </a:p>
          <a:p>
            <a:pPr lvl="0"/>
            <a:r>
              <a:rPr/>
              <a:t>Written (!) contribution guidelines help</a:t>
            </a:r>
          </a:p>
          <a:p>
            <a:pPr lvl="0"/>
            <a:r>
              <a:rPr/>
              <a:t>Lowering the entry hurdle using developer calls is important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Robust test suite</a:t>
            </a:r>
          </a:p>
        </p:txBody>
      </p:sp>
      <p:sp>
        <p:nvSpPr>
          <p:cNvPr id="3" name="Content Placeholder 2"/>
          <p:cNvSpPr>
            <a:spLocks noGrp="1"/>
          </p:cNvSpPr>
          <p:nvPr>
            <p:ph idx="1"/>
          </p:nvPr>
        </p:nvSpPr>
        <p:spPr/>
        <p:txBody>
          <a:bodyPr/>
          <a:lstStyle/>
          <a:p>
            <a:pPr lvl="0"/>
            <a:r>
              <a:rPr/>
              <a:t>Unit and integration tests are essential for preventing regression and assuring quality</a:t>
            </a:r>
          </a:p>
          <a:p>
            <a:pPr lvl="0"/>
            <a:r>
              <a:rPr/>
              <a:t>Especially with compiled code critical to see if package works correctly</a:t>
            </a:r>
          </a:p>
          <a:p>
            <a:pPr lvl="0"/>
            <a:r>
              <a:rPr/>
              <a:t>Use continuous integration during development to make sure nothing breaks along the way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Documentation</a:t>
            </a:r>
          </a:p>
        </p:txBody>
      </p:sp>
      <p:sp>
        <p:nvSpPr>
          <p:cNvPr id="3" name="Content Placeholder 2"/>
          <p:cNvSpPr>
            <a:spLocks noGrp="1"/>
          </p:cNvSpPr>
          <p:nvPr>
            <p:ph idx="1"/>
          </p:nvPr>
        </p:nvSpPr>
        <p:spPr/>
        <p:txBody>
          <a:bodyPr/>
          <a:lstStyle/>
          <a:p>
            <a:pPr lvl="0"/>
            <a:r>
              <a:rPr/>
              <a:t>Lots of work but extremely important</a:t>
            </a:r>
          </a:p>
          <a:p>
            <a:pPr lvl="1"/>
            <a:r>
              <a:rPr/>
              <a:t>start with writing up the methods details</a:t>
            </a:r>
          </a:p>
          <a:p>
            <a:pPr lvl="1"/>
            <a:r>
              <a:rPr/>
              <a:t>think about the code structure first in a “design doc”</a:t>
            </a:r>
          </a:p>
          <a:p>
            <a:pPr lvl="1"/>
            <a:r>
              <a:rPr/>
              <a:t>only then put the code in the package</a:t>
            </a:r>
          </a:p>
          <a:p>
            <a:pPr lvl="0"/>
            <a:r>
              <a:rPr/>
              <a:t>Needs to be kept up-to-date</a:t>
            </a:r>
          </a:p>
          <a:p>
            <a:pPr lvl="0"/>
            <a:r>
              <a:rPr/>
              <a:t>Need to have examples &amp; vignettes</a:t>
            </a:r>
          </a:p>
          <a:p>
            <a:pPr lvl="1"/>
            <a:r>
              <a:rPr/>
              <a:t>Testing alone is not sufficient</a:t>
            </a:r>
          </a:p>
          <a:p>
            <a:pPr lvl="1"/>
            <a:r>
              <a:rPr/>
              <a:t>Builds trust with users</a:t>
            </a:r>
          </a:p>
          <a:p>
            <a:pPr lvl="1"/>
            <a:r>
              <a:rPr/>
              <a:t>Reference for developers over time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Long term vision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Statisticians have software engineering skills</a:t>
            </a:r>
          </a:p>
        </p:txBody>
      </p:sp>
      <p:sp>
        <p:nvSpPr>
          <p:cNvPr id="3" name="Content Placeholder 2"/>
          <p:cNvSpPr>
            <a:spLocks noGrp="1"/>
          </p:cNvSpPr>
          <p:nvPr>
            <p:ph idx="1"/>
          </p:nvPr>
        </p:nvSpPr>
        <p:spPr/>
        <p:txBody>
          <a:bodyPr/>
          <a:lstStyle/>
          <a:p>
            <a:pPr lvl="0"/>
            <a:r>
              <a:rPr/>
              <a:t>These skills are taught at university</a:t>
            </a:r>
          </a:p>
          <a:p>
            <a:pPr lvl="0"/>
            <a:r>
              <a:rPr/>
              <a:t>Statisticians can use basic practices in their daily work …</a:t>
            </a:r>
          </a:p>
          <a:p>
            <a:pPr lvl="0"/>
            <a:r>
              <a:rPr/>
              <a:t>… to ensure reproducibility of statistical analyses and research results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Innovation does not stop with publication</a:t>
            </a:r>
          </a:p>
        </p:txBody>
      </p:sp>
      <p:sp>
        <p:nvSpPr>
          <p:cNvPr id="3" name="Content Placeholder 2"/>
          <p:cNvSpPr>
            <a:spLocks noGrp="1"/>
          </p:cNvSpPr>
          <p:nvPr>
            <p:ph idx="1"/>
          </p:nvPr>
        </p:nvSpPr>
        <p:spPr/>
        <p:txBody>
          <a:bodyPr/>
          <a:lstStyle/>
          <a:p>
            <a:pPr lvl="0"/>
            <a:r>
              <a:rPr/>
              <a:t>Methods research does not end when the first methods paper is published</a:t>
            </a:r>
          </a:p>
          <a:p>
            <a:pPr lvl="0"/>
            <a:r>
              <a:rPr/>
              <a:t>Initial prototype code as paper supplement is not sufficient</a:t>
            </a:r>
          </a:p>
          <a:p>
            <a:pPr lvl="0"/>
            <a:r>
              <a:rPr/>
              <a:t>Continue to developing open source and reliably tested software packages …</a:t>
            </a:r>
          </a:p>
          <a:p>
            <a:pPr lvl="0"/>
            <a:r>
              <a:rPr/>
              <a:t>… to enable users to easily use the new methodology in their own applications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Industry develops common code base</a:t>
            </a:r>
          </a:p>
        </p:txBody>
      </p:sp>
      <p:sp>
        <p:nvSpPr>
          <p:cNvPr id="3" name="Content Placeholder 2"/>
          <p:cNvSpPr>
            <a:spLocks noGrp="1"/>
          </p:cNvSpPr>
          <p:nvPr>
            <p:ph idx="1"/>
          </p:nvPr>
        </p:nvSpPr>
        <p:spPr/>
        <p:txBody>
          <a:bodyPr/>
          <a:lstStyle/>
          <a:p>
            <a:pPr lvl="0"/>
            <a:r>
              <a:rPr/>
              <a:t>Increasingly companies work in the open source as much as possible</a:t>
            </a:r>
          </a:p>
          <a:p>
            <a:pPr lvl="0"/>
            <a:r>
              <a:rPr/>
              <a:t>Rather than repeating similar developments internally …</a:t>
            </a:r>
          </a:p>
          <a:p>
            <a:pPr lvl="0"/>
            <a:r>
              <a:rPr/>
              <a:t>… to become more cost-effective and transparent towards society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Next steps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Packages</a:t>
            </a:r>
          </a:p>
        </p:txBody>
      </p:sp>
      <p:sp>
        <p:nvSpPr>
          <p:cNvPr id="3" name="Content Placeholder 2"/>
          <p:cNvSpPr>
            <a:spLocks noGrp="1"/>
          </p:cNvSpPr>
          <p:nvPr>
            <p:ph idx="1"/>
          </p:nvPr>
        </p:nvSpPr>
        <p:spPr/>
        <p:txBody>
          <a:bodyPr/>
          <a:lstStyle/>
          <a:p>
            <a:pPr lvl="0"/>
            <a:r>
              <a:rPr/>
              <a:t>New workstream on covariate adjustment is starting up</a:t>
            </a:r>
          </a:p>
          <a:p>
            <a:pPr lvl="0"/>
            <a:r>
              <a:rPr/>
              <a:t>Think more strategically about identifying gaps in the statistical software landscape</a:t>
            </a:r>
          </a:p>
          <a:p>
            <a:pPr lvl="0"/>
            <a:r>
              <a:rPr/>
              <a:t>Help maintaining the CRAN Task View on Clinical Trials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Branding and Collaboration</a:t>
            </a:r>
          </a:p>
        </p:txBody>
      </p:sp>
      <p:sp>
        <p:nvSpPr>
          <p:cNvPr id="3" name="Content Placeholder 2"/>
          <p:cNvSpPr>
            <a:spLocks noGrp="1"/>
          </p:cNvSpPr>
          <p:nvPr>
            <p:ph idx="1"/>
          </p:nvPr>
        </p:nvSpPr>
        <p:spPr/>
        <p:txBody>
          <a:bodyPr/>
          <a:lstStyle/>
          <a:p>
            <a:pPr lvl="0"/>
            <a:r>
              <a:rPr/>
              <a:t>Publicize our new short name </a:t>
            </a:r>
            <a:r>
              <a:rPr>
                <a:latin typeface="Courier"/>
              </a:rPr>
              <a:t>openstatsware</a:t>
            </a:r>
          </a:p>
          <a:p>
            <a:pPr lvl="0"/>
            <a:r>
              <a:rPr/>
              <a:t>Proposed to associate also with EFSPI to emphasize global nature of the group</a:t>
            </a:r>
          </a:p>
          <a:p>
            <a:pPr lvl="0"/>
            <a:r>
              <a:rPr/>
              <a:t>Ensure a strong connection to the new pan-pharma methodology group</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Communication and Outreach</a:t>
            </a:r>
          </a:p>
        </p:txBody>
      </p:sp>
      <p:sp>
        <p:nvSpPr>
          <p:cNvPr id="3" name="Content Placeholder 2"/>
          <p:cNvSpPr>
            <a:spLocks noGrp="1"/>
          </p:cNvSpPr>
          <p:nvPr>
            <p:ph idx="1"/>
          </p:nvPr>
        </p:nvSpPr>
        <p:spPr/>
        <p:txBody>
          <a:bodyPr/>
          <a:lstStyle/>
          <a:p>
            <a:pPr lvl="0"/>
            <a:r>
              <a:rPr/>
              <a:t>Add more content to our video series</a:t>
            </a:r>
          </a:p>
          <a:p>
            <a:pPr lvl="0"/>
            <a:r>
              <a:rPr/>
              <a:t>Start a chat channel to start informal discussions within larger community</a:t>
            </a:r>
          </a:p>
          <a:p>
            <a:pPr lvl="0"/>
            <a:r>
              <a:rPr/>
              <a:t>Organize hackathons working together on workstream packages e.g.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Q&amp;A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year of the Software Engineering working group</dc:title>
  <dc:creator>Daniel Sabanés Bové (Roche) and Ya Wang (Gilead) on behalf of the working group</dc:creator>
  <cp:keywords/>
  <dcterms:created xsi:type="dcterms:W3CDTF">2026-04-06T02:20:29Z</dcterms:created>
  <dcterms:modified xsi:type="dcterms:W3CDTF">2026-04-06T02:20:29Z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omments">
    <vt:lpwstr/>
  </property>
  <property fmtid="{D5CDD505-2E9C-101B-9397-08002B2CF9AE}" pid="6" name="date">
    <vt:lpwstr>2023-09-29</vt:lpwstr>
  </property>
  <property fmtid="{D5CDD505-2E9C-101B-9397-08002B2CF9AE}" pid="7" name="editor">
    <vt:lpwstr>visual</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resources">
    <vt:lpwstr/>
  </property>
  <property fmtid="{D5CDD505-2E9C-101B-9397-08002B2CF9AE}" pid="14" name="subtitle">
    <vt:lpwstr>Regulatory-Industry Statistics Workshop 2023</vt:lpwstr>
  </property>
  <property fmtid="{D5CDD505-2E9C-101B-9397-08002B2CF9AE}" pid="15" name="toc-title">
    <vt:lpwstr>Outline</vt:lpwstr>
  </property>
</Properties>
</file>